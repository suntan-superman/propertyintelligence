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WORKSIDE SOFTWARE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Find. Analyze. Monitor.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84632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232D37"/>
                </a:solidFill>
                <a:latin typeface="Noto Sans"/>
              </a:rPr>
              <a:t>Continuous distressed-property intelligence for investors and acquisition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2084832"/>
            <a:ext cx="685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560320"/>
            <a:ext cx="594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22A42"/>
                </a:solidFill>
                <a:latin typeface="Noto Sans"/>
              </a:rPr>
              <a:t>DISTRESS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2084832"/>
            <a:ext cx="685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2560320"/>
            <a:ext cx="594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22A42"/>
                </a:solidFill>
                <a:latin typeface="Noto Sans"/>
              </a:rPr>
              <a:t>OPPORT.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2084832"/>
            <a:ext cx="685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560320"/>
            <a:ext cx="594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22A42"/>
                </a:solidFill>
                <a:latin typeface="Noto Sans"/>
              </a:rPr>
              <a:t>INTELL.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084832"/>
            <a:ext cx="685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5" y="2560320"/>
            <a:ext cx="594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22A42"/>
                </a:solidFill>
                <a:latin typeface="Noto Sans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51008" y="1920240"/>
            <a:ext cx="9601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8168" y="2084832"/>
            <a:ext cx="685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3888" y="2560320"/>
            <a:ext cx="59436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22A42"/>
                </a:solidFill>
                <a:latin typeface="Noto Sans"/>
              </a:rP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93192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122A42"/>
                </a:solidFill>
                <a:latin typeface="Noto Sans"/>
              </a:rPr>
              <a:t>Turn fragmented data into a prioritized pipeline of properties worth investigating.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Investors don't have a data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They have a decision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2C73A9"/>
                </a:solidFill>
                <a:latin typeface="Noto Sans"/>
              </a:rPr>
              <a:t>Tax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1993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Assessor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993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2C73A9"/>
                </a:solidFill>
                <a:latin typeface="Noto Sans"/>
              </a:rPr>
              <a:t>Foreclosures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993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Mortgages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68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36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Liens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11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79" y="3136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AVMs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611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136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Comps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2971800"/>
            <a:ext cx="187451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2"/>
            <a:ext cx="1600199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2C73A9"/>
                </a:solidFill>
                <a:latin typeface="Noto Sans"/>
              </a:rPr>
              <a:t>Title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611880"/>
            <a:ext cx="1508760" cy="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1874519"/>
            <a:ext cx="2011680" cy="19202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039112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E08430"/>
                </a:solidFill>
                <a:latin typeface="Noto Sans"/>
              </a:rPr>
              <a:t>THE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19" y="2514600"/>
            <a:ext cx="1645920" cy="11430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Which properties actually matter?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1024128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Each source tells part of the story. Investors still have to decide where to spend time, data dollars and due-diligence effort.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INEFFICIENCY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traditional workflow is backwards.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Too much research happens before anyone knows whether the property deserves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Lead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280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Mortgage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Liens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06456" y="2103120"/>
            <a:ext cx="123444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43616" y="2267712"/>
            <a:ext cx="960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9336" y="2743200"/>
            <a:ext cx="86868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Not a deal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77639"/>
            <a:ext cx="1033272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Noto Sans"/>
              </a:rPr>
              <a:t>Hours of work can end with a conclusion that should have been obvious much earlier.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846320"/>
            <a:ext cx="4389120" cy="685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4928616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PROPERTY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5239512"/>
            <a:ext cx="4023359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Reverse the funnel.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 reverses the funnel.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Start broad and inexpensive. Add cost and depth only as a candidate becomes more promising.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783080"/>
            <a:ext cx="960120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407" y="1947672"/>
            <a:ext cx="93268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11,316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8127" y="2423160"/>
            <a:ext cx="9235440" cy="-1188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Tax-distressed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2487" y="2606040"/>
            <a:ext cx="804672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09647" y="2770632"/>
            <a:ext cx="7772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246120"/>
            <a:ext cx="7680960" cy="-1188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727" y="3429000"/>
            <a:ext cx="649224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6887" y="3593592"/>
            <a:ext cx="62179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4069080"/>
            <a:ext cx="6126479" cy="-1188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residential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6967" y="4251960"/>
            <a:ext cx="493776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4127" y="4416552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847" y="4892040"/>
            <a:ext cx="4572000" cy="-1188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High single-family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207" y="5074920"/>
            <a:ext cx="338328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1367" y="5239512"/>
            <a:ext cx="3108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Few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7087" y="5715000"/>
            <a:ext cx="3017520" cy="-1188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Investor-quality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Start with evidence of distress.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A distress signal creates a candidate — not an investment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30632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TAX 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71800" cy="1508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Power-to-Sell
Delinquency
Tax auction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632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MORTGAGE DISTRESS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2971800" cy="1508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Notice of Default
Notice of Trustee Sale
Auction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37560" cy="22860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632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PROPERTY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971800" cy="1508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Transfer / deed
Mortgage changes
Recorded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1014984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Evidence of distress tells us where to look. The rest of the system determines whether there is economic room to investigate further.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Turn records into actual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Identity and provenance come before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13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4630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County
ATN / APN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313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14630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Assessor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313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88920"/>
            <a:ext cx="14630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Canonical
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313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788920"/>
            <a:ext cx="14630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ATTOM 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148840"/>
            <a:ext cx="18288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313432"/>
            <a:ext cx="15544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788920"/>
            <a:ext cx="14630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Verified
Property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Noto Sans"/>
              </a:rPr>
              <a:t>Keep each source identity separate. Know exactly where every fact came from.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COST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Screen before you spend.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deeper the data, the fewer properties should reach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94560" cy="1600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Broad discovery
Low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600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Mortgage • NOD/NTS
Home equity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1600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 • Comps
Market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560320" cy="2377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TITLE / LIENS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194560" cy="1600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Deep encumbrance
Finalists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122A42"/>
                </a:solidFill>
                <a:latin typeface="Noto Sans"/>
              </a:rPr>
              <a:t>Spend more data dollars only as the probability that a property deserves attention increases.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Build the financial picture — without manufacturing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Every output is labeled by what kind of evidence it represents.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9456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delinquency
NOD / NTS
Recorded mortgage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ESTIMATED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
Loan balance
Home equity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CALCULATED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219456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Equity envelope
MAO
Investigation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56032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933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19456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Other liens
Condition / rehab
Verified payoff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22A42"/>
                </a:solidFill>
                <a:latin typeface="Noto Sans"/>
              </a:rPr>
              <a:t>A real property moved from anonymous tax record to investable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3484 Haven St became our first end-to-end production proof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17830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E08430"/>
                </a:solidFill>
                <a:latin typeface="Noto Sans"/>
              </a:rPr>
              <a:t>TAX DELINQUENCY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6916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$49,262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96596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130552"/>
            <a:ext cx="17830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2C73A9"/>
                </a:solidFill>
                <a:latin typeface="Noto Sans"/>
              </a:rPr>
              <a:t>INDEPENDENT AVM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606040"/>
            <a:ext cx="16916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$353,000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96596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130552"/>
            <a:ext cx="17830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AVM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606040"/>
            <a:ext cx="16916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$323K–$383K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196596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2130552"/>
            <a:ext cx="17830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122A42"/>
                </a:solidFill>
                <a:latin typeface="Noto Sans"/>
              </a:rPr>
              <a:t>2025 RESALE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2606040"/>
            <a:ext cx="16916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$117,500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965960"/>
            <a:ext cx="205740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130552"/>
            <a:ext cx="17830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528E55"/>
                </a:solidFill>
                <a:latin typeface="Noto Sans"/>
              </a:rPr>
              <a:t>ATTOM EST. LOAN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606040"/>
            <a:ext cx="169164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$114,181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76472"/>
            <a:ext cx="10424159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WHAT THE SYSTEM ESTABLISHED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332719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Single Family • 3 BD / 1.5 BA • 1,265 SF • Built 1966 • 15 comps • Exact Assessor crosswalk • Durable Property 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03520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E08430"/>
                </a:solidFill>
                <a:latin typeface="Noto Sans"/>
              </a:rPr>
              <a:t>Started as an anonymous county tax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But Property Intelligence doesn't call it a deal.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Finding apparent equity is not the same as finding an investment.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09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WHAT WE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1772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 identity
Tax distress
Independent valuation
Mortgage estimate
Comparable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28800"/>
            <a:ext cx="4983480" cy="329184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7091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WHAT STILL NEEDS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617720" cy="2514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Other liens / encumbrances
Verified payoff
Tax redemption amount
Condition / rehab
Title issues / transaction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486400"/>
            <a:ext cx="6400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The system identifies uncertainty instead of hiding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ACQUISITION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From evidence to Maximum Allowable Offer.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investor defines the hurdle. Property Intelligence does the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Exit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Rehab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6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Holding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Financing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8312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Selling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19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Encumbrances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96728" y="1965960"/>
            <a:ext cx="141732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3888" y="2130552"/>
            <a:ext cx="11430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7" y="2606039"/>
            <a:ext cx="1051560" cy="1371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Required return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886200"/>
            <a:ext cx="42519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050791"/>
            <a:ext cx="397764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MAXIMUM ALLOWABLE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526280"/>
            <a:ext cx="388620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 defensible acquisition threshold based on evidence + investor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486400"/>
            <a:ext cx="8229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E08430"/>
                </a:solidFill>
                <a:latin typeface="Noto Sans"/>
              </a:rPr>
              <a:t>If critical inputs are unknown, the system can stop instead of manufacturing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SECOND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problem with every static lead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The property keeps changing after you find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Tax distressed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NOD 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NTS recorded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APR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Auction scheduled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APR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Auction postponed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2011680"/>
            <a:ext cx="164592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7627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9" y="2651760"/>
            <a:ext cx="128016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50" b="0">
                <a:solidFill>
                  <a:srgbClr val="232D37"/>
                </a:solidFill>
                <a:latin typeface="Noto Sans"/>
              </a:rPr>
              <a:t>Cured / sold / transferred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43400"/>
            <a:ext cx="82296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122A42"/>
                </a:solidFill>
                <a:latin typeface="Noto Sans"/>
              </a:rPr>
              <a:t>An annual list can be obsolete months before the next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CONTINUOUS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Property Intelligence keeps watching.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Discover → analyze → monitor → detect change → recalculate → alert.</a:t>
            </a:r>
          </a:p>
        </p:txBody>
      </p:sp>
      <p:pic>
        <p:nvPicPr>
          <p:cNvPr id="5" name="Picture 4" descr="a_detailed_infographic_diagram._overall_scene_a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93776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828800"/>
            <a:ext cx="5120640" cy="36118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993392"/>
            <a:ext cx="48463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MATERIAL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4754879" cy="2834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NOD / NTS
Auction scheduled or changed
Mortgage change
Property transfer
Tax status change
New lien
Material valuation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623560"/>
            <a:ext cx="49377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122A42"/>
                </a:solidFill>
                <a:latin typeface="Noto Sans"/>
              </a:rPr>
              <a:t>The opportunity doesn't disappear from our radar after the first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What changed this week?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Investors shouldn't have to repeatedly research hundreds of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24688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3774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MATERIAL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B4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94767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B44545"/>
                </a:solidFill>
                <a:latin typeface="Noto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2316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New 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783080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94767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2316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Auction moved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45643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93192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distress resolved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Property transferred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291839"/>
            <a:ext cx="2240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456432"/>
            <a:ext cx="1965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931920"/>
            <a:ext cx="1874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Economics improved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66360"/>
            <a:ext cx="82296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122A42"/>
                </a:solidFill>
                <a:latin typeface="Noto Sans"/>
              </a:rPr>
              <a:t>Property Intelligence tells the user where something important changed.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Noto Sans"/>
              </a:rPr>
              <a:t>The data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We don't replace data providers. We make their evidence useful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COUNTY /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92024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Tax distress
Assessor
Tax auctions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93392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ATTOM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468880"/>
            <a:ext cx="192024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Mortgage
NOD / NTS
Home equity
Foreclosure deltas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93392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RENTCAST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468880"/>
            <a:ext cx="192024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AVM
Comps
Property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2286000" cy="2971800"/>
          </a:xfrm>
          <a:prstGeom prst="roundRect">
            <a:avLst/>
          </a:prstGeom>
          <a:solidFill>
            <a:srgbClr val="F4F7F9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22A42"/>
                </a:solidFill>
                <a:latin typeface="Noto Sans"/>
              </a:rPr>
              <a:t>TITLE / 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468880"/>
            <a:ext cx="1920240" cy="2194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Open liens
PACE / HOA
Releases
Title chain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074920"/>
            <a:ext cx="3977639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5184648"/>
            <a:ext cx="370332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PROPERTY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513832"/>
            <a:ext cx="3611879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Noto Sans"/>
              </a:rPr>
              <a:t>Decision + continuous intelligence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C73A9"/>
                </a:solidFill>
                <a:latin typeface="Noto Sans"/>
              </a:rP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400" b="1">
                <a:solidFill>
                  <a:srgbClr val="122A42"/>
                </a:solidFill>
                <a:latin typeface="Noto Sans"/>
              </a:rPr>
              <a:t>From thousands of records to the few properties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69848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300" b="0">
                <a:solidFill>
                  <a:srgbClr val="626F7C"/>
                </a:solidFill>
                <a:latin typeface="Noto Sans"/>
              </a:rPr>
              <a:t>Property Intelligence is the decision and monitoring layer above fragmented real estate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E0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22402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E08430"/>
                </a:solidFill>
                <a:latin typeface="Noto Sans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148840" cy="1463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Find distress before investors spend time researching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2C7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30552"/>
            <a:ext cx="22402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C73A9"/>
                </a:solidFill>
                <a:latin typeface="Noto San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148840" cy="1463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Combine property, mortgage, valuation and encumbrance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32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30552"/>
            <a:ext cx="22402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328C84"/>
                </a:solidFill>
                <a:latin typeface="Noto San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2148840" cy="1463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Evaluate economics and calculate a defensible acquisition threshold.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965960"/>
            <a:ext cx="2514600" cy="2240280"/>
          </a:xfrm>
          <a:prstGeom prst="roundRect">
            <a:avLst/>
          </a:prstGeom>
          <a:solidFill>
            <a:srgbClr val="F4F7F9"/>
          </a:solidFill>
          <a:ln>
            <a:solidFill>
              <a:srgbClr val="528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30552"/>
            <a:ext cx="22402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528E55"/>
                </a:solidFill>
                <a:latin typeface="Noto Sans"/>
              </a:rP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606040"/>
            <a:ext cx="2148840" cy="1463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300" b="0">
                <a:solidFill>
                  <a:srgbClr val="232D37"/>
                </a:solidFill>
                <a:latin typeface="Noto Sans"/>
              </a:rPr>
              <a:t>Continuously detect events that can change the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0241280" cy="777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Noto Sans"/>
              </a:rPr>
              <a:t>Property Intelligence continuously turns fragmented real estate data into a prioritized pipeline of opportunities investors can investigate based on evidence rather than guesswork.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760720"/>
            <a:ext cx="406908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2C73A9"/>
                </a:solidFill>
                <a:latin typeface="Noto Sans"/>
              </a:rPr>
              <a:t>Find. Analyze. Monitor.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626F7C"/>
                </a:solidFill>
                <a:latin typeface="Noto Sans"/>
              </a:rPr>
              <a:t>PROPERTY INTELLIGENCE  •  WORKSIDE SOFTWARE LLC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626F7C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