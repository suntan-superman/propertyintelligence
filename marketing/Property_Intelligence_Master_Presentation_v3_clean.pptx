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365760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WORKSIDE SOFTWARE LLC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76072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PROPERTY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1170432"/>
            <a:ext cx="384048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626F7C"/>
                </a:solidFill>
                <a:latin typeface="Aptos"/>
              </a:rPr>
              <a:t>Find. Analyze. Monitor. 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828800"/>
            <a:ext cx="4572000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232D37"/>
                </a:solidFill>
                <a:latin typeface="Aptos"/>
              </a:rPr>
              <a:t>Continuous distressed-property
intelligence for investors and
acquisition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847088"/>
            <a:ext cx="1078992" cy="93268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956816"/>
            <a:ext cx="107899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0843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50992" y="2331720"/>
            <a:ext cx="10241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122A42"/>
                </a:solidFill>
                <a:latin typeface="Aptos"/>
              </a:rPr>
              <a:t>DISTRESS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67144" y="1847088"/>
            <a:ext cx="1078992" cy="93268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67144" y="1956816"/>
            <a:ext cx="107899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2C73A9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6" y="2331720"/>
            <a:ext cx="10241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40" b="1">
                <a:solidFill>
                  <a:srgbClr val="122A42"/>
                </a:solidFill>
                <a:latin typeface="Aptos"/>
              </a:rPr>
              <a:t>OPPORTUNITY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0728" y="1847088"/>
            <a:ext cx="1078992" cy="93268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1956816"/>
            <a:ext cx="107899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328C84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331720"/>
            <a:ext cx="10241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40" b="1">
                <a:solidFill>
                  <a:srgbClr val="122A42"/>
                </a:solidFill>
                <a:latin typeface="Aptos"/>
              </a:rPr>
              <a:t>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54312" y="1847088"/>
            <a:ext cx="1078992" cy="93268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54312" y="1956816"/>
            <a:ext cx="107899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528E55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1744" y="2331720"/>
            <a:ext cx="10241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122A42"/>
                </a:solidFill>
                <a:latin typeface="Aptos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97896" y="1847088"/>
            <a:ext cx="1078992" cy="93268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97896" y="1956816"/>
            <a:ext cx="107899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25328" y="2331720"/>
            <a:ext cx="10241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122A42"/>
                </a:solidFill>
                <a:latin typeface="Aptos"/>
              </a:rP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3977639"/>
            <a:ext cx="5029200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122A42"/>
                </a:solidFill>
                <a:latin typeface="Aptos"/>
              </a:rPr>
              <a:t>Turn fragmented data into a prioritized
pipeline of properties worth
investigating.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83096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Investors don't have a data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They have a decision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Tax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68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1993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Assessor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468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993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Foreclosures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68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993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Mortgages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468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36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Liens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611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79" y="3136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AVMs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611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3136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Comps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611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3136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Title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611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1874519"/>
            <a:ext cx="2011680" cy="19202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2039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THE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19" y="2514600"/>
            <a:ext cx="1645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Which properties actually matter?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805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Aptos"/>
              </a:rPr>
              <a:t>Each source tells part of the story. Investors still have to decide where to spend time, data dollars and due-diligence effort.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THE INEFFICIENCY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The traditional workflow is backwards.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Too much research happens before anyone knows whether the property deserves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Lead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92808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9968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Property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6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Mortgage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4024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1184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6904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Comps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Liens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Repairs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Numbers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06456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43616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Aptos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9336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Not a deal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7763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2A42"/>
                </a:solidFill>
                <a:latin typeface="Aptos"/>
              </a:rPr>
              <a:t>Hours of work can end with a conclusion that should have been obvious much earlier.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846320"/>
            <a:ext cx="438912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50109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PROPERTY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5486400"/>
            <a:ext cx="4023359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Reverse the funnel.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5720"/>
            <a:ext cx="18288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2C73A9"/>
                </a:solidFill>
                <a:latin typeface="Aptos"/>
              </a:rP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9875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Property Intelligence reverses the funnel.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78992"/>
            <a:ext cx="1042416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Start broad and inexpensive. Add cost and depth only as a candidate becomes more promising.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03807" y="1600200"/>
            <a:ext cx="9784080" cy="713232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247" y="167335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08430"/>
                </a:solidFill>
                <a:latin typeface="Aptos"/>
              </a:rPr>
              <a:t>11,316</a:t>
            </a:r>
            <a:r>
              <a:rPr sz="1200" b="0">
                <a:solidFill>
                  <a:srgbClr val="232D37"/>
                </a:solidFill>
                <a:latin typeface="Aptos"/>
              </a:rPr>
              <a:t>   Tax-distressed candidates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6767" y="2441448"/>
            <a:ext cx="8138160" cy="713232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18207" y="2514600"/>
            <a:ext cx="7955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73A9"/>
                </a:solidFill>
                <a:latin typeface="Aptos"/>
              </a:rPr>
              <a:t>312</a:t>
            </a:r>
            <a:r>
              <a:rPr sz="1200" b="0">
                <a:solidFill>
                  <a:srgbClr val="232D37"/>
                </a:solidFill>
                <a:latin typeface="Aptos"/>
              </a:rPr>
              <a:t>   High priority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9727" y="3282696"/>
            <a:ext cx="6492240" cy="713232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1167" y="3355848"/>
            <a:ext cx="630935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28C84"/>
                </a:solidFill>
                <a:latin typeface="Aptos"/>
              </a:rPr>
              <a:t>118</a:t>
            </a:r>
            <a:r>
              <a:rPr sz="1200" b="0">
                <a:solidFill>
                  <a:srgbClr val="232D37"/>
                </a:solidFill>
                <a:latin typeface="Aptos"/>
              </a:rPr>
              <a:t>   High residential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2687" y="4123944"/>
            <a:ext cx="4846320" cy="713232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4127" y="4197096"/>
            <a:ext cx="4663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28E55"/>
                </a:solidFill>
                <a:latin typeface="Aptos"/>
              </a:rPr>
              <a:t>81</a:t>
            </a:r>
            <a:r>
              <a:rPr sz="1200" b="0">
                <a:solidFill>
                  <a:srgbClr val="232D37"/>
                </a:solidFill>
                <a:latin typeface="Aptos"/>
              </a:rPr>
              <a:t>   High single-family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9927" y="4965192"/>
            <a:ext cx="3291840" cy="713232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1367" y="5038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2A42"/>
                </a:solidFill>
                <a:latin typeface="Aptos"/>
              </a:rPr>
              <a:t>Few</a:t>
            </a:r>
            <a:r>
              <a:rPr sz="1200" b="0">
                <a:solidFill>
                  <a:srgbClr val="232D37"/>
                </a:solidFill>
                <a:latin typeface="Aptos"/>
              </a:rPr>
              <a:t>   Investor-quality leads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897880"/>
            <a:ext cx="457200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0">
                <a:solidFill>
                  <a:srgbClr val="626F7C"/>
                </a:solidFill>
                <a:latin typeface="Aptos"/>
              </a:rPr>
              <a:t>Illustrative Kern funnel from the current production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83096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Start with evidence of distress.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A distress signal creates a candidate — not an investment recommendation.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37560" cy="228600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TAX DISTRESS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Power-to-Sell
Delinquency
Tax auction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37560" cy="228600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933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Aptos"/>
              </a:rPr>
              <a:t>MORTGAGE DISTRESS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68880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Notice of Default
Notice of Trustee Sale
Auction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337560" cy="22860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933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PROPERTY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Transfer / deed
Mortgage changes
Recorded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Aptos"/>
              </a:rPr>
              <a:t>Evidence of distress tells us where to look. The rest of the system determines whether there is economic room to investigate further.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Turn records into actual properties.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Identity and provenance come before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County
ATN / APN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Assessor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Canonical
Address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ATTOM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Verified
Property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22A42"/>
                </a:solidFill>
                <a:latin typeface="Aptos"/>
              </a:rPr>
              <a:t>Keep each source identity separate. Know exactly where every fact came from.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COST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Screen before you spend.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The deeper the data, the fewer properties should reach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COUNTY /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Broad discovery
Low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ATTOM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6888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Mortgage • NOD/NTS
Home equity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Aptos"/>
              </a:rPr>
              <a:t>RENTCAST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AVM • Comps
Market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TITLE / LIENS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46888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Deep encumbrance
Finalists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22A42"/>
                </a:solidFill>
                <a:latin typeface="Aptos"/>
              </a:rPr>
              <a:t>Spend more data dollars only as the probability that a property deserves attention increases.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Build the financial picture — without manufacturing certainty.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Every output is labeled by what kind of evidence it represents.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KNOWN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Tax delinquency
NOD / NTS
Recorded mortgage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ESTIMATED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AVM
Loan balance
Home equity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Aptos"/>
              </a:rPr>
              <a:t>CALCULATED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Equity envelope
MAO
Investigation priority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UNKNOWN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4688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Other liens
Condition / rehab
Verified payoff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REAL-WORLD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A real property moved from anonymous tax record to investable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3484 Haven St became our first end-to-end production proof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TAX DELINQUENCY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$49,262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INDEPENDENT AVM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$353,000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1496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6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Aptos"/>
              </a:rPr>
              <a:t>AVM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$323K–$383K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5784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2944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2025 RESALE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8664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$117,500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72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ATTOM EST. LOAN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2952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$114,181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69848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39312"/>
            <a:ext cx="10424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WHAT THE SYSTEM ESTABLISHED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10332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Single Family • 3 BD / 1.5 BA • 1,265 SF • Built 1966 • 15 comps • Exact Assessor crosswalk • Durable Property lineage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303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08430"/>
                </a:solidFill>
                <a:latin typeface="Aptos"/>
              </a:rPr>
              <a:t>Started as an anonymous county tax record.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But Property Intelligence doesn't call it a deal.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Finding apparent equity is not the same as finding an investment.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983480" cy="32918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WHAT WE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6177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Property identity
Tax distress
Independent valuation
Mortgage estimate
Comparable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28800"/>
            <a:ext cx="4983480" cy="32918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93392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WHAT STILL NEEDS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68880"/>
            <a:ext cx="46177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Other liens / encumbrances
Verified payoff
Tax redemption amount
Condition / rehab
Title issues / transaction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Aptos"/>
              </a:rPr>
              <a:t>The system identifies uncertainty instead of hiding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ACQUISITION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From evidence to Maximum Allowable Offer.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The investor defines the hurdle. Property Intelligence does the math.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Exit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5688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2848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Rehab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9896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77056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2776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Holding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4104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41264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6984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Financing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68312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Selling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19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Encumbrances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96728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33888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9607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Required return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3886200"/>
            <a:ext cx="425196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4050791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MAXIMUM ALLOWABLE 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526280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 defensible acquisition threshold based on evidence + investor assumptions.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486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08430"/>
                </a:solidFill>
                <a:latin typeface="Aptos"/>
              </a:rPr>
              <a:t>If critical inputs are unknown, the system can stop instead of manufacturing precision.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THE SECOND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The problem with every static lead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The property keeps changing after you find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SEP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Tax distressed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3432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Aptos"/>
              </a:rPr>
              <a:t>DEC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NOD recorded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15384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Aptos"/>
              </a:rPr>
              <a:t>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NTS recorded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APR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Auction scheduled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9288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APR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Auction postponed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MAY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19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Cured / sold / transferred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343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2A42"/>
                </a:solidFill>
                <a:latin typeface="Aptos"/>
              </a:rPr>
              <a:t>An annual list can be obsolete months before the next release.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CONTINUOUS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Property Intelligence keeps watching.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Discover → analyze → monitor → detect change → recalculate → alert.</a:t>
            </a:r>
          </a:p>
        </p:txBody>
      </p:sp>
      <p:pic>
        <p:nvPicPr>
          <p:cNvPr id="5" name="Picture 4" descr="a_detailed_infographic_diagram._overall_scene_a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493776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828800"/>
            <a:ext cx="5120640" cy="361188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9933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MATERIAL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468880"/>
            <a:ext cx="475487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New NOD / NTS
Auction scheduled or changed
Mortgage change
Property transfer
Tax status change
New lien
Material valuation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623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2A42"/>
                </a:solidFill>
                <a:latin typeface="Aptos"/>
              </a:rPr>
              <a:t>The opportunity doesn't disappear from our radar after the first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What changed this week?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Investors shouldn't have to repeatedly research hundreds of properties.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74320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476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MATERIAL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783080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94767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42316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New NODs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4767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New 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783080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94767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42316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Auction moved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3291839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34564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393192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Tax distress resolved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291839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4564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3192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Property transferred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291839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34564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93192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Economics improved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166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2A42"/>
                </a:solidFill>
                <a:latin typeface="Aptos"/>
              </a:rPr>
              <a:t>Property Intelligence tells the user where something important changed.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The data network.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We don't replace data providers. We make their evidence useful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COUNTY /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Tax distress
Assessor
Tax auctions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993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ATTOM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4688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Mortgage
NOD / NTS
Home equity
Foreclosure deltas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993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Aptos"/>
              </a:rPr>
              <a:t>RENTCAST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4688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AVM
Comps
Property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93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TITLE / LIEN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4688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Open liens
PACE / HOA
Releases
Title chain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5074920"/>
            <a:ext cx="397763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523951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PROPERTY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715000"/>
            <a:ext cx="361187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Decision + continuous intelligence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Aptos"/>
              </a:rPr>
              <a:t>THE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From thousands of records to the few properties that matter.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Aptos"/>
              </a:rPr>
              <a:t>Property Intelligence is the decision and monitoring layer above fragmented real estate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Aptos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Find distress before investors spend time researching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933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Aptos"/>
              </a:rP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6888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Combine property, mortgage, valuation and encumbrance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Aptos"/>
              </a:rPr>
              <a:t>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Evaluate economics and calculate a defensible acquisition threshold.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2880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9933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Aptos"/>
              </a:rPr>
              <a:t>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46888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Continuously detect events that can change the opportunity.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7091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Aptos"/>
              </a:rPr>
              <a:t>Property Intelligence continuously turns fragmented real estate data into a prioritized pipeline of opportunities investors can investigate based on evidence rather than guesswork.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5760720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73A9"/>
                </a:solidFill>
                <a:latin typeface="Aptos"/>
              </a:rPr>
              <a:t>Find. Analyze. Monitor. 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Aptos"/>
              </a:rPr>
              <a:t>PROPERTY INTELLIGENCE  •  WORKSIDE SOFTWARE LLC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