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36576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WORKSIDE SOFTWARE LLC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7607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PROPERTY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1170432"/>
            <a:ext cx="38404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626F7C"/>
                </a:solidFill>
                <a:latin typeface="Aptos"/>
              </a:rPr>
              <a:t>Find. Analyze. Monitor.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828800"/>
            <a:ext cx="4572000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232D37"/>
                </a:solidFill>
                <a:latin typeface="Aptos"/>
              </a:rPr>
              <a:t>Continuous distressed-property
intelligence for investors and
acquisition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0843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122A42"/>
                </a:solidFill>
                <a:latin typeface="Aptos"/>
              </a:rPr>
              <a:t>DISTRESS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67144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67144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C73A9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40" b="1">
                <a:solidFill>
                  <a:srgbClr val="122A42"/>
                </a:solidFill>
                <a:latin typeface="Aptos"/>
              </a:rPr>
              <a:t>OPPORTUNITY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328C84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40" b="1">
                <a:solidFill>
                  <a:srgbClr val="122A42"/>
                </a:solidFill>
                <a:latin typeface="Aptos"/>
              </a:rPr>
              <a:t>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54312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528E55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122A42"/>
                </a:solidFill>
                <a:latin typeface="Aptos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97896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97896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5328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122A42"/>
                </a:solidFill>
                <a:latin typeface="Aptos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977639"/>
            <a:ext cx="502920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122A42"/>
                </a:solidFill>
                <a:latin typeface="Aptos"/>
              </a:rPr>
              <a:t>Turn fragmented data into a prioritized
pipeline of properties worth
investigating.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Investors don't have a data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They have a decision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Tax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Assessor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Foreclosures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Mortgages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Liens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AVMs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Comps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Title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1874519"/>
            <a:ext cx="2011680" cy="19202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THE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25146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Which properties actually matter?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Each source tells part of the story. Investors still have to decide where to spend time, data dollars and due-diligence effort.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INEFFICIENCY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The traditional workflow is backwards.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Too much research happens before anyone knows whether the property deserves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Lead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280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Mortgage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4024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Liens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0645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43616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9336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Not a 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Aptos"/>
              </a:rPr>
              <a:t>Hours of work can end with a conclusion that should have been obvious much earlier.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846320"/>
            <a:ext cx="438912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010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PROPERTY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486400"/>
            <a:ext cx="4023359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Reverse the funnel.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5720"/>
            <a:ext cx="18288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2C73A9"/>
                </a:solidFill>
                <a:latin typeface="Aptos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9875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Property Intelligence reverses the funnel.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1042416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Start broad and inexpensive. Add cost and depth only as a candidate becomes more promising.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807" y="1600200"/>
            <a:ext cx="978408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167335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08430"/>
                </a:solidFill>
                <a:latin typeface="Aptos"/>
              </a:rPr>
              <a:t>11,316</a:t>
            </a:r>
            <a:r>
              <a:rPr sz="1200" b="0">
                <a:solidFill>
                  <a:srgbClr val="232D37"/>
                </a:solidFill>
                <a:latin typeface="Aptos"/>
              </a:rPr>
              <a:t>   Tax-distressed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67" y="2441448"/>
            <a:ext cx="813816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8207" y="2514600"/>
            <a:ext cx="7955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73A9"/>
                </a:solidFill>
                <a:latin typeface="Aptos"/>
              </a:rPr>
              <a:t>312</a:t>
            </a:r>
            <a:r>
              <a:rPr sz="1200" b="0">
                <a:solidFill>
                  <a:srgbClr val="232D37"/>
                </a:solidFill>
                <a:latin typeface="Aptos"/>
              </a:rPr>
              <a:t>   High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9727" y="3282696"/>
            <a:ext cx="649224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3355848"/>
            <a:ext cx="63093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28C84"/>
                </a:solidFill>
                <a:latin typeface="Aptos"/>
              </a:rPr>
              <a:t>118</a:t>
            </a:r>
            <a:r>
              <a:rPr sz="1200" b="0">
                <a:solidFill>
                  <a:srgbClr val="232D37"/>
                </a:solidFill>
                <a:latin typeface="Aptos"/>
              </a:rPr>
              <a:t>   High residential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2687" y="4123944"/>
            <a:ext cx="484632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4127" y="4197096"/>
            <a:ext cx="4663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28E55"/>
                </a:solidFill>
                <a:latin typeface="Aptos"/>
              </a:rPr>
              <a:t>81</a:t>
            </a:r>
            <a:r>
              <a:rPr sz="1200" b="0">
                <a:solidFill>
                  <a:srgbClr val="232D37"/>
                </a:solidFill>
                <a:latin typeface="Aptos"/>
              </a:rPr>
              <a:t>   High single-family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9927" y="4965192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367" y="5038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A42"/>
                </a:solidFill>
                <a:latin typeface="Aptos"/>
              </a:rPr>
              <a:t>Few</a:t>
            </a:r>
            <a:r>
              <a:rPr sz="1200" b="0">
                <a:solidFill>
                  <a:srgbClr val="232D37"/>
                </a:solidFill>
                <a:latin typeface="Aptos"/>
              </a:rPr>
              <a:t>   Investor-quality leads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897880"/>
            <a:ext cx="45720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0">
                <a:solidFill>
                  <a:srgbClr val="626F7C"/>
                </a:solidFill>
                <a:latin typeface="Aptos"/>
              </a:rPr>
              <a:t>Illustrative Kern funnel from the current production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Start with evidence of distress.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A distress signal creates a candidate — not an investment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TAX 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Power-to-Sell
Delinquency
Tax auction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MORTGAGE DISTRESS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Notice of Default
Notice of Trustee Sale
Auction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PROPERTY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Transfer / deed
Mortgage changes
Recorded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Evidence of distress tells us where to look. The rest of the system determines whether there is economic room to investigate further.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Turn records into actual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Identity and provenance come before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County
ATN / APN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Assessor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Canonical
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ATTOM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Verified
Property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Aptos"/>
              </a:rPr>
              <a:t>Keep each source identity separate. Know exactly where every fact came from.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COST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Screen before you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 deeper the data, the fewer properties should reach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Broad discovery
Low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Mortgage • NOD/NTS
Home equity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AVM • Comps
Market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TITLE / LIENS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Deep encumbrance
Finalists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Aptos"/>
              </a:rPr>
              <a:t>Spend more data dollars only as the probability that a property deserves attention increases.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Build the financial picture — without manufacturing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Every output is labeled by what kind of evidence it represents.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delinquency
NOD / NTS
Recorded mortgage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ESTIMATED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AVM
Loan balance
Home equity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CALCULATED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Equity envelope
MAO
Investigation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Other liens
Condition / rehab
Verified payoff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REAL-WORLD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A real property moved from anonymous tax record to investable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3484 Haven St became our first end-to-end production proof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TAX DELINQUENCY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$49,262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INDEPENDENT AVM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$353,000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AVM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$323K–$383K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2025 RESALE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$117,500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ATTOM EST. LOAN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$114,181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69848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39312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WHAT THE SYSTEM ESTABLISHED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10332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Single Family • 3 BD / 1.5 BA • 1,265 SF • Built 1966 • 15 comps • Exact Assessor crosswalk • Durable Property 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03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8430"/>
                </a:solidFill>
                <a:latin typeface="Aptos"/>
              </a:rPr>
              <a:t>Started as an anonymous county tax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But Property Intelligence doesn't call it a deal.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Finding apparent equity is not the same as finding an investment.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WHAT WE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Property identity
Tax distress
Independent valuation
Mortgage estimate
Comparable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WHAT STILL NEEDS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Other liens / encumbrances
Verified payoff
Tax redemption amount
Condition / rehab
Title issues / transaction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The system identifies uncertainty instead of hiding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ACQUISITION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From evidence to Maximum Allowable Offer.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 investor defines the hurdle. Property Intelligence does the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Exit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Rehab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6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Holding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Financing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Selling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19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Encumbrances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9672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33888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7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Required return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3886200"/>
            <a:ext cx="42519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050791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MAXIMUM ALLOWABLE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5262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 defensible acquisition threshold based on evidence + investor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486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08430"/>
                </a:solidFill>
                <a:latin typeface="Aptos"/>
              </a:rPr>
              <a:t>If critical inputs are unknown, the system can stop instead of manufacturing precision.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SECOND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The problem with every static lead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 property keeps changing after you find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distressed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NOD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NTS recorded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Auction scheduled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APR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Auction postponed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MAY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19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Cured / sold / transferred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43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A42"/>
                </a:solidFill>
                <a:latin typeface="Aptos"/>
              </a:rPr>
              <a:t>An annual list can be obsolete months before the next release.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CONTINUOUS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Property Intelligence keeps watching.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Discover → analyze → monitor → detect change → recalculate → alert.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51206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CONTINUOUS MONITORING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402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CF4FA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350008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15087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SCHEDULED
RECHECK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035808"/>
            <a:ext cx="1819656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0">
                <a:solidFill>
                  <a:srgbClr val="626F7C"/>
                </a:solidFill>
                <a:latin typeface="Aptos"/>
              </a:rPr>
              <a:t>Adaptive cadence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2402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CF4FA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350008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0843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04872"/>
            <a:ext cx="15087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DETECT
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035808"/>
            <a:ext cx="1819656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0">
                <a:solidFill>
                  <a:srgbClr val="626F7C"/>
                </a:solidFill>
                <a:latin typeface="Aptos"/>
              </a:rPr>
              <a:t>NOD • NTS • tax • transfer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CF4FA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87368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328C84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42231"/>
            <a:ext cx="15087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REFRESH
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773168"/>
            <a:ext cx="1819656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0">
                <a:solidFill>
                  <a:srgbClr val="626F7C"/>
                </a:solidFill>
                <a:latin typeface="Aptos"/>
              </a:rPr>
              <a:t>Economics +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977639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CF4FA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4087368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528E55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42231"/>
            <a:ext cx="15087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ALERT
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773168"/>
            <a:ext cx="1819656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0">
                <a:solidFill>
                  <a:srgbClr val="626F7C"/>
                </a:solidFill>
                <a:latin typeface="Aptos"/>
              </a:rPr>
              <a:t>Material events only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34640" y="2852928"/>
            <a:ext cx="384048" cy="0"/>
          </a:xfrm>
          <a:prstGeom prst="line">
            <a:avLst/>
          </a:prstGeom>
          <a:ln w="27940">
            <a:solidFill>
              <a:srgbClr val="E0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15968" y="3493008"/>
            <a:ext cx="0" cy="457200"/>
          </a:xfrm>
          <a:prstGeom prst="line">
            <a:avLst/>
          </a:prstGeom>
          <a:ln w="27940">
            <a:solidFill>
              <a:srgbClr val="E0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834640" y="4590288"/>
            <a:ext cx="384048" cy="0"/>
          </a:xfrm>
          <a:prstGeom prst="line">
            <a:avLst/>
          </a:prstGeom>
          <a:ln w="27940">
            <a:solidFill>
              <a:srgbClr val="E0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755648" y="3493008"/>
            <a:ext cx="0" cy="457200"/>
          </a:xfrm>
          <a:prstGeom prst="line">
            <a:avLst/>
          </a:prstGeom>
          <a:ln w="27940">
            <a:solidFill>
              <a:srgbClr val="E0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504688"/>
            <a:ext cx="49834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122A42"/>
                </a:solidFill>
                <a:latin typeface="Aptos"/>
              </a:rPr>
              <a:t>Discover → Analyze → Monitor → Detect Change → Recalculate → Alert → Repeat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874519"/>
            <a:ext cx="5212080" cy="40690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121408"/>
            <a:ext cx="46634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2C73A9"/>
                </a:solidFill>
                <a:latin typeface="Aptos"/>
              </a:rPr>
              <a:t>MATERIAL EVENTS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2752344"/>
            <a:ext cx="128016" cy="128016"/>
          </a:xfrm>
          <a:prstGeom prst="ellipse">
            <a:avLst/>
          </a:prstGeom>
          <a:solidFill>
            <a:srgbClr val="B44545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2697480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New NOD / NTS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3145536"/>
            <a:ext cx="128016" cy="128016"/>
          </a:xfrm>
          <a:prstGeom prst="ellipse">
            <a:avLst/>
          </a:prstGeom>
          <a:solidFill>
            <a:srgbClr val="E08430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3090672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Auction scheduled or changed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3538728"/>
            <a:ext cx="128016" cy="128016"/>
          </a:xfrm>
          <a:prstGeom prst="ellipse">
            <a:avLst/>
          </a:prstGeom>
          <a:solidFill>
            <a:srgbClr val="2C73A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3483864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Mortgage change</a:t>
            </a:r>
          </a:p>
        </p:txBody>
      </p:sp>
      <p:sp>
        <p:nvSpPr>
          <p:cNvPr id="42" name="Oval 41"/>
          <p:cNvSpPr/>
          <p:nvPr/>
        </p:nvSpPr>
        <p:spPr>
          <a:xfrm>
            <a:off x="6537960" y="3931920"/>
            <a:ext cx="128016" cy="128016"/>
          </a:xfrm>
          <a:prstGeom prst="ellipse">
            <a:avLst/>
          </a:prstGeom>
          <a:solidFill>
            <a:srgbClr val="328C84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3877056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Property transfer</a:t>
            </a:r>
          </a:p>
        </p:txBody>
      </p:sp>
      <p:sp>
        <p:nvSpPr>
          <p:cNvPr id="44" name="Oval 43"/>
          <p:cNvSpPr/>
          <p:nvPr/>
        </p:nvSpPr>
        <p:spPr>
          <a:xfrm>
            <a:off x="6537960" y="4325112"/>
            <a:ext cx="128016" cy="128016"/>
          </a:xfrm>
          <a:prstGeom prst="ellipse">
            <a:avLst/>
          </a:prstGeom>
          <a:solidFill>
            <a:srgbClr val="528E55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4270248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Tax status change</a:t>
            </a:r>
          </a:p>
        </p:txBody>
      </p:sp>
      <p:sp>
        <p:nvSpPr>
          <p:cNvPr id="46" name="Oval 45"/>
          <p:cNvSpPr/>
          <p:nvPr/>
        </p:nvSpPr>
        <p:spPr>
          <a:xfrm>
            <a:off x="6537960" y="4718303"/>
            <a:ext cx="128016" cy="128016"/>
          </a:xfrm>
          <a:prstGeom prst="ellipse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4663440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New lien / encumbrance</a:t>
            </a:r>
          </a:p>
        </p:txBody>
      </p:sp>
      <p:sp>
        <p:nvSpPr>
          <p:cNvPr id="48" name="Oval 47"/>
          <p:cNvSpPr/>
          <p:nvPr/>
        </p:nvSpPr>
        <p:spPr>
          <a:xfrm>
            <a:off x="6537960" y="5111495"/>
            <a:ext cx="128016" cy="128016"/>
          </a:xfrm>
          <a:prstGeom prst="ellipse">
            <a:avLst/>
          </a:prstGeom>
          <a:solidFill>
            <a:srgbClr val="2C73A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5056631"/>
            <a:ext cx="406908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32D37"/>
                </a:solidFill>
                <a:latin typeface="Aptos"/>
              </a:rPr>
              <a:t>Material valuation change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40680"/>
            <a:ext cx="4617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The opportunity doesn't disappear from our radar after the first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What changed this week?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Investors shouldn't have to repeatedly research hundreds of properties.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MATERIAL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New NODs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New 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Auction 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distress 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Property transferred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Economics improved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Aptos"/>
              </a:rPr>
              <a:t>Property Intelligence tells the user where something important 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The data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We don't replace data providers. We make their evidence useful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distress
Assessor
Tax auctions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Mortgage
NOD / NTS
Home equity
Foreclosure deltas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AVM
Comps
Property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TITLE / 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Open liens
PACE / HOA
Releases
Title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074920"/>
            <a:ext cx="397763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52395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PROPERTY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715000"/>
            <a:ext cx="36118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Decision + continuous intelligence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From thousands of records to the few properties that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Property Intelligence is the decision and monitoring layer above fragmented real estate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Find distress before investors spend time researching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Combine property, mortgage, valuation and encumbrance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Evaluate economics and calculate a defensible acquisition threshold.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Continuously detect events that can change the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Property Intelligence continuously turns fragmented real estate data into a prioritized pipeline of opportunities investors can investigate based on evidence rather than guesswork.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76072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73A9"/>
                </a:solidFill>
                <a:latin typeface="Aptos"/>
              </a:rPr>
              <a:t>Find. Analyze. Monitor.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