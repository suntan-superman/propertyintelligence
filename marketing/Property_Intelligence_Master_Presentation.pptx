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WORKSIDE SOFTWARE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Find. Analyze. Monitor.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32D37"/>
                </a:solidFill>
                <a:latin typeface="Noto Sans"/>
              </a:rPr>
              <a:t>Continuous distressed-property intelligence for investors and acquisition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20848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560320"/>
            <a:ext cx="5943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DISTRESS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20848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2560320"/>
            <a:ext cx="5943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20848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560320"/>
            <a:ext cx="5943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0848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5" y="2560320"/>
            <a:ext cx="5943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8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8168" y="20848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3888" y="2560320"/>
            <a:ext cx="5943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9319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A42"/>
                </a:solidFill>
                <a:latin typeface="Noto Sans"/>
              </a:rPr>
              <a:t>Turn fragmented data into a prioritized pipeline of properties worth investigating.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Investors don't have a data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They have a decision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Tax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Assessor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Foreclosures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993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Mortgages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Liens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AVMs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Comps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2"/>
            <a:ext cx="1600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Title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611880"/>
            <a:ext cx="1508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874519"/>
            <a:ext cx="2011680" cy="19202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THE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5146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Which properties actually matter?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Each source tells part of the story. Investors still have to decide where to spend time, data dollars and due-diligence effort.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traditional workflow is backwards.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Too much research happens before anyone knows whether the property deserves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Lead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280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Mortgage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Liens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0645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43616" y="22677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9336" y="27432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Not a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Noto Sans"/>
              </a:rPr>
              <a:t>Hours of work can end with a conclusion that should have been obvious much earlier.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846320"/>
            <a:ext cx="438912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010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PROPERTY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486400"/>
            <a:ext cx="4023359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Reverse the funnel.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 reverses the funnel.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Start broad and inexpensive. Add cost and depth only as a candidate becomes more promising.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783080"/>
            <a:ext cx="960120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407" y="1947672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11,316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8127" y="2423160"/>
            <a:ext cx="923544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Tax-distressed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2487" y="2606040"/>
            <a:ext cx="804672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09647" y="27706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246120"/>
            <a:ext cx="768096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727" y="3429000"/>
            <a:ext cx="649224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6887" y="359359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4069080"/>
            <a:ext cx="6126479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residential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6967" y="4251960"/>
            <a:ext cx="493776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4127" y="4416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847" y="4892040"/>
            <a:ext cx="457200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single-family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207" y="5074920"/>
            <a:ext cx="338328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1367" y="5239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Few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087" y="5715000"/>
            <a:ext cx="301752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Investor-quality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Start with evidence of distress.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A distress signal creates a candidate — not an investment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TAX 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Power-to-Sell
Delinquency
Tax auction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MORTGAGE DISTRESS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Notice of Default
Notice of Trustee Sale
Auction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PROPERTY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Transfer / deed
Mortgage changes
Recorded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Evidence of distress tells us where to look. The rest of the system determines whether there is economic room to investigate further.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Turn records into actual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Identity and provenance come before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County
ATN / APN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Assessor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Canonical
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ATTOM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788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Verified
Property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Noto Sans"/>
              </a:rPr>
              <a:t>Keep each source identity separate. Know exactly where every fact came from.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COST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Screen before you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deeper the data, the fewer properties should reach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Broad discovery
Low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Mortgage • NOD/NTS
Home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 • Comps
Market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TITLE / LIENS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94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Deep encumbrance
Finalists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Noto Sans"/>
              </a:rPr>
              <a:t>Spend more data dollars only as the probability that a property deserves attention increases.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Build the financial picture — without manufacturing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Every output is labeled by what kind of evidence it represents.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delinquency
NOD / NTS
Recorded mortgage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
Loan balance
Home equity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CALCULATED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Equity envelope
MAO
Investigation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93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Other liens
Condition / rehab
Verified payoff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A real property moved from anonymous tax record to investable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3484 Haven St became our first end-to-end production proof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TAX DELINQUENCY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$49,262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INDEPENDENT AVM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$353,000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AVM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$323K–$383K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2025 RESALE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$117,500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2880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99339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ATTOM EST.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4688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$114,181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39312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WHAT THE SYSTEM 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10332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Single Family • 3 BD / 1.5 BA • 1,265 SF • Built 1966 • 15 comps • Exact Assessor crosswalk • Durable Property 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03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8430"/>
                </a:solidFill>
                <a:latin typeface="Noto Sans"/>
              </a:rPr>
              <a:t>Started as an anonymous county tax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But Property Intelligence doesn't call it a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Finding apparent equity is not the same as finding an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WHAT WE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 identity
Tax distress
Independent valuation
Mortgage estimate
Comparable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WHAT STILL NEEDS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617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Other liens / encumbrances
Verified payoff
Tax redemption amount
Condition / rehab
Title issues / transaction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The system identifies uncertainty instead of hiding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ACQUISITION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From evidence to Maximum Allowable Offer.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investor defines the hurdle. Property Intelligence does the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Exit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Rehab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Holding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Financing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Selling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Encumbrances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9672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3888" y="2130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7" y="2606039"/>
            <a:ext cx="1051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Required return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886200"/>
            <a:ext cx="42519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050791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MAXIMUM ALLOWABLE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5262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 defensible acquisition threshold based on evidence + investor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486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08430"/>
                </a:solidFill>
                <a:latin typeface="Noto Sans"/>
              </a:rPr>
              <a:t>If critical inputs are unknown, the system can stop instead of manufacturing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SECOND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problem with every static lead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property keeps changing after you find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distressed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NOD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NTS recorded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Auction scheduled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APR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Auction postponed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9" y="2651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Cured / sold / transferred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A42"/>
                </a:solidFill>
                <a:latin typeface="Noto Sans"/>
              </a:rPr>
              <a:t>An annual list can be obsolete months before the next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CONTINUOUS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 keeps watching.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Discover → analyze → monitor → detect change → recalculate → alert.</a:t>
            </a:r>
          </a:p>
        </p:txBody>
      </p:sp>
      <p:pic>
        <p:nvPicPr>
          <p:cNvPr id="5" name="Picture 4" descr="a_detailed_infographic_diagram._overall_scene_a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93776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828800"/>
            <a:ext cx="5120640" cy="36118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993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MATERIAL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47548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NOD / NTS
Auction scheduled or changed
Mortgage change
Property transfer
Tax status change
New lien
Material valuation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623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2A42"/>
                </a:solidFill>
                <a:latin typeface="Noto Sans"/>
              </a:rPr>
              <a:t>The opportunity doesn't disappear from our radar after the first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What changed this week?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Investors shouldn't have to repeatedly research hundreds of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MATERIAL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4767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2316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Auction 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distress 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 transferred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4564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Economics improved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Noto Sans"/>
              </a:rPr>
              <a:t>Property Intelligence tells the user where something important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data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We don't replace data providers. We make their evidence useful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distress
Assessor
Tax auctions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Mortgage
NOD / NTS
Home equity
Foreclosure deltas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
Comps
Property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TITLE / 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Open liens
PACE / HOA
Releases
Title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074920"/>
            <a:ext cx="397763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52395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PROPERTY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715000"/>
            <a:ext cx="36118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Decision + continuous 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From thousands of records to the few properties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Property Intelligence is the decision and monitoring layer above fragmented real estate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Find distress before investors spend time researching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Combine property, mortgage, valuation and encumbrance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Evaluate economics and calculate a defensible acquisition threshold.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Continuously detect events that can change the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Property Intelligence continuously turns fragmented real estate data into a prioritized pipeline of opportunities investors can investigate based on evidence rather than guesswork.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76072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73A9"/>
                </a:solidFill>
                <a:latin typeface="Noto Sans"/>
              </a:rPr>
              <a:t>Find. Analyze. Monitor.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